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Poppins Bold" charset="0"/>
      <p:regular r:id="rId16"/>
    </p:embeddedFont>
    <p:embeddedFont>
      <p:font typeface="Zen Dots" charset="0"/>
      <p:regular r:id="rId17"/>
    </p:embeddedFont>
    <p:embeddedFont>
      <p:font typeface="Poppins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-59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rnoba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96" r="-14096" b="-5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9FF">
                <a:alpha val="2078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73836" y="2579276"/>
            <a:ext cx="11605938" cy="4535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13"/>
              </a:lnSpc>
            </a:pPr>
            <a:r>
              <a:rPr lang="en-US" sz="12487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DATA </a:t>
            </a:r>
          </a:p>
          <a:p>
            <a:pPr algn="ctr">
              <a:lnSpc>
                <a:spcPts val="11613"/>
              </a:lnSpc>
            </a:pPr>
            <a:r>
              <a:rPr lang="en-US" sz="12487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SCIENCE REPORT</a:t>
            </a:r>
          </a:p>
        </p:txBody>
      </p:sp>
      <p:sp>
        <p:nvSpPr>
          <p:cNvPr id="7" name="AutoShape 7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0873" y="9046346"/>
            <a:ext cx="4747340" cy="88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 syed haris</a:t>
            </a:r>
          </a:p>
          <a:p>
            <a:pPr algn="l">
              <a:lnSpc>
                <a:spcPts val="3461"/>
              </a:lnSpc>
            </a:pPr>
            <a:endParaRPr lang="en-US" sz="247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544133" y="9046346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carnoba9@gmail.com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28202" y="9061735"/>
            <a:ext cx="1274721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44363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93774" y="2856807"/>
            <a:ext cx="3086100" cy="5446038"/>
            <a:chOff x="0" y="0"/>
            <a:chExt cx="812800" cy="14343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434347"/>
            </a:xfrm>
            <a:custGeom>
              <a:avLst/>
              <a:gdLst/>
              <a:ahLst/>
              <a:cxnLst/>
              <a:rect l="l" t="t" r="r" b="b"/>
              <a:pathLst>
                <a:path w="812800" h="1434347">
                  <a:moveTo>
                    <a:pt x="0" y="0"/>
                  </a:moveTo>
                  <a:lnTo>
                    <a:pt x="812800" y="0"/>
                  </a:lnTo>
                  <a:lnTo>
                    <a:pt x="812800" y="1434347"/>
                  </a:lnTo>
                  <a:lnTo>
                    <a:pt x="0" y="1434347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1491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3598" y="2392921"/>
            <a:ext cx="5023431" cy="5909924"/>
            <a:chOff x="0" y="0"/>
            <a:chExt cx="778261" cy="9156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8261" cy="915602"/>
            </a:xfrm>
            <a:custGeom>
              <a:avLst/>
              <a:gdLst/>
              <a:ahLst/>
              <a:cxnLst/>
              <a:rect l="l" t="t" r="r" b="b"/>
              <a:pathLst>
                <a:path w="778261" h="915602">
                  <a:moveTo>
                    <a:pt x="0" y="0"/>
                  </a:moveTo>
                  <a:lnTo>
                    <a:pt x="778261" y="0"/>
                  </a:lnTo>
                  <a:lnTo>
                    <a:pt x="778261" y="915602"/>
                  </a:lnTo>
                  <a:lnTo>
                    <a:pt x="0" y="915602"/>
                  </a:lnTo>
                  <a:close/>
                </a:path>
              </a:pathLst>
            </a:custGeom>
            <a:blipFill>
              <a:blip r:embed="rId2"/>
              <a:stretch>
                <a:fillRect l="-66191" r="-10224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8831280">
            <a:off x="-2149749" y="2740944"/>
            <a:ext cx="4001809" cy="4001809"/>
          </a:xfrm>
          <a:custGeom>
            <a:avLst/>
            <a:gdLst/>
            <a:ahLst/>
            <a:cxnLst/>
            <a:rect l="l" t="t" r="r" b="b"/>
            <a:pathLst>
              <a:path w="4001809" h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84620" y="1863621"/>
            <a:ext cx="9599092" cy="167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8"/>
              </a:lnSpc>
            </a:pPr>
            <a:r>
              <a:rPr lang="en-US" sz="4665" dirty="0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WHY ACCURATE </a:t>
            </a:r>
          </a:p>
          <a:p>
            <a:pPr algn="just">
              <a:lnSpc>
                <a:spcPts val="4338"/>
              </a:lnSpc>
            </a:pPr>
            <a:r>
              <a:rPr lang="en-US" sz="4665" dirty="0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REAL ESTATE </a:t>
            </a:r>
          </a:p>
          <a:p>
            <a:pPr algn="just">
              <a:lnSpc>
                <a:spcPts val="4338"/>
              </a:lnSpc>
            </a:pPr>
            <a:r>
              <a:rPr lang="en-US" sz="4665" dirty="0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VALUATION MATTERS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 rot="-1886788">
            <a:off x="16349986" y="3775189"/>
            <a:ext cx="4464076" cy="4464076"/>
          </a:xfrm>
          <a:custGeom>
            <a:avLst/>
            <a:gdLst/>
            <a:ahLst/>
            <a:cxnLst/>
            <a:rect l="l" t="t" r="r" b="b"/>
            <a:pathLst>
              <a:path w="4464076" h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762422" y="712045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84620" y="3640774"/>
            <a:ext cx="9848162" cy="5422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5"/>
              </a:lnSpc>
            </a:pPr>
            <a:r>
              <a:rPr lang="en-US" sz="2169" b="1" spc="-6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Challenges in the Market:</a:t>
            </a:r>
          </a:p>
          <a:p>
            <a:pPr algn="just">
              <a:lnSpc>
                <a:spcPts val="2885"/>
              </a:lnSpc>
            </a:pPr>
            <a:endParaRPr lang="en-US" sz="2169" b="1" spc="-60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25265" lvl="1" indent="-212633" algn="just">
              <a:lnSpc>
                <a:spcPts val="2619"/>
              </a:lnSpc>
              <a:buFont typeface="Arial"/>
              <a:buChar char="•"/>
            </a:pPr>
            <a:r>
              <a:rPr lang="en-US" sz="196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Price Ambiguity: Real estate prices are often subjective. Buyers and sellers struggle to find a "Fair Market Value" without data-backed evidence.</a:t>
            </a:r>
          </a:p>
          <a:p>
            <a:pPr marL="425265" lvl="1" indent="-212633" algn="just">
              <a:lnSpc>
                <a:spcPts val="2619"/>
              </a:lnSpc>
              <a:buFont typeface="Arial"/>
              <a:buChar char="•"/>
            </a:pPr>
            <a:r>
              <a:rPr lang="en-US" sz="196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 Financial Risk: Even a $5\%$ error in pricing for a $\$400,000$ house can lead to a $\$20,000$ loss for stakeholders.</a:t>
            </a:r>
          </a:p>
          <a:p>
            <a:pPr marL="425265" lvl="1" indent="-212633" algn="just">
              <a:lnSpc>
                <a:spcPts val="2619"/>
              </a:lnSpc>
              <a:buFont typeface="Arial"/>
              <a:buChar char="•"/>
            </a:pPr>
            <a:r>
              <a:rPr lang="en-US" sz="196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Complexity: It is difficult for humans to manually calculate how specific features—like a 20-year-old roof or an extra 500 </a:t>
            </a:r>
            <a:r>
              <a:rPr lang="en-US" sz="1969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sqft</a:t>
            </a:r>
            <a:r>
              <a:rPr lang="en-US" sz="196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of basement—impact the final price.</a:t>
            </a:r>
          </a:p>
          <a:p>
            <a:pPr algn="just">
              <a:lnSpc>
                <a:spcPts val="2885"/>
              </a:lnSpc>
            </a:pPr>
            <a:endParaRPr lang="en-US" sz="1969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85"/>
              </a:lnSpc>
            </a:pPr>
            <a:r>
              <a:rPr lang="en-US" sz="2169" b="1" spc="-6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Solution:</a:t>
            </a:r>
          </a:p>
          <a:p>
            <a:pPr algn="just">
              <a:lnSpc>
                <a:spcPts val="2885"/>
              </a:lnSpc>
            </a:pPr>
            <a:endParaRPr lang="en-US" sz="2169" b="1" spc="-60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619"/>
              </a:lnSpc>
            </a:pPr>
            <a:r>
              <a:rPr lang="en-US" sz="196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using Data Analysis and Machine Learning, we bridge the gap between 'gut feeling' and 'strategic implementation,' providing stakeholders with high-confidence pricing decisions.</a:t>
            </a:r>
          </a:p>
          <a:p>
            <a:pPr algn="just">
              <a:lnSpc>
                <a:spcPts val="2885"/>
              </a:lnSpc>
            </a:pPr>
            <a:endParaRPr lang="en-US" sz="1969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1529929" y="2933753"/>
            <a:ext cx="3086100" cy="5269946"/>
            <a:chOff x="0" y="0"/>
            <a:chExt cx="812800" cy="13879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387969"/>
            </a:xfrm>
            <a:custGeom>
              <a:avLst/>
              <a:gdLst/>
              <a:ahLst/>
              <a:cxnLst/>
              <a:rect l="l" t="t" r="r" b="b"/>
              <a:pathLst>
                <a:path w="812800" h="1387969">
                  <a:moveTo>
                    <a:pt x="0" y="0"/>
                  </a:moveTo>
                  <a:lnTo>
                    <a:pt x="812800" y="0"/>
                  </a:lnTo>
                  <a:lnTo>
                    <a:pt x="812800" y="1387969"/>
                  </a:lnTo>
                  <a:lnTo>
                    <a:pt x="0" y="1387969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12800" cy="1445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06202" y="2484865"/>
            <a:ext cx="6781800" cy="5718833"/>
            <a:chOff x="44525" y="0"/>
            <a:chExt cx="1074311" cy="885997"/>
          </a:xfrm>
        </p:grpSpPr>
        <p:sp>
          <p:nvSpPr>
            <p:cNvPr id="10" name="Freeform 10"/>
            <p:cNvSpPr/>
            <p:nvPr/>
          </p:nvSpPr>
          <p:spPr>
            <a:xfrm>
              <a:off x="44525" y="0"/>
              <a:ext cx="1074311" cy="885997"/>
            </a:xfrm>
            <a:custGeom>
              <a:avLst/>
              <a:gdLst/>
              <a:ahLst/>
              <a:cxnLst/>
              <a:rect l="l" t="t" r="r" b="b"/>
              <a:pathLst>
                <a:path w="1074311" h="885997">
                  <a:moveTo>
                    <a:pt x="0" y="0"/>
                  </a:moveTo>
                  <a:lnTo>
                    <a:pt x="1074311" y="0"/>
                  </a:lnTo>
                  <a:lnTo>
                    <a:pt x="1074311" y="885997"/>
                  </a:lnTo>
                  <a:lnTo>
                    <a:pt x="0" y="885997"/>
                  </a:lnTo>
                  <a:close/>
                </a:path>
              </a:pathLst>
            </a:custGeom>
            <a:blipFill>
              <a:blip r:embed="rId2"/>
              <a:stretch>
                <a:fillRect l="-15976" r="-1597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019" y="533487"/>
            <a:ext cx="8188898" cy="150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6"/>
              </a:lnSpc>
            </a:pPr>
            <a:r>
              <a:rPr lang="en-US" sz="42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DATA INTEGRITY: </a:t>
            </a:r>
          </a:p>
          <a:p>
            <a:pPr algn="just">
              <a:lnSpc>
                <a:spcPts val="3873"/>
              </a:lnSpc>
            </a:pPr>
            <a:r>
              <a:rPr lang="en-US" sz="41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ENSURING "QUALITY IN, QUALITY OUT"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019" y="2613614"/>
            <a:ext cx="8188898" cy="6166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3"/>
              </a:lnSpc>
            </a:pPr>
            <a:r>
              <a:rPr lang="en-US" sz="2100" b="1" spc="-58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Technical Implementation:</a:t>
            </a:r>
          </a:p>
          <a:p>
            <a:pPr algn="just">
              <a:lnSpc>
                <a:spcPts val="2793"/>
              </a:lnSpc>
            </a:pPr>
            <a:endParaRPr lang="en-US" sz="2100" b="1" spc="-58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388622" lvl="1" indent="-194311" algn="just">
              <a:lnSpc>
                <a:spcPts val="2394"/>
              </a:lnSpc>
              <a:buFont typeface="Arial"/>
              <a:buChar char="•"/>
            </a:pPr>
            <a:r>
              <a:rPr lang="en-US" sz="1800" spc="-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 Imputation Strategy: Missing values were handled systematically to preserve dataset balance; Median imputation was used for numerical features to maintain robustness against outliers, while Mode was applied for categorical features.</a:t>
            </a:r>
          </a:p>
          <a:p>
            <a:pPr marL="388622" lvl="1" indent="-194311" algn="just">
              <a:lnSpc>
                <a:spcPts val="2394"/>
              </a:lnSpc>
              <a:buFont typeface="Arial"/>
              <a:buChar char="•"/>
            </a:pPr>
            <a:r>
              <a:rPr lang="en-US" sz="1800" spc="-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3-Sigma Rule (Outlier Filtering): A statistical threshold of $\pm3$ Standard Deviations was applied to key variables like </a:t>
            </a:r>
            <a:r>
              <a:rPr lang="en-US" sz="1800" spc="-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SalePrice</a:t>
            </a:r>
            <a:r>
              <a:rPr lang="en-US" sz="1800" spc="-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1800" spc="-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GrLivArea</a:t>
            </a:r>
            <a:r>
              <a:rPr lang="en-US" sz="1800" spc="-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This ensured that 99.7% of the data distribution was preserved while removing extreme anomalies.</a:t>
            </a:r>
          </a:p>
          <a:p>
            <a:pPr marL="388622" lvl="1" indent="-194311" algn="just">
              <a:lnSpc>
                <a:spcPts val="2394"/>
              </a:lnSpc>
              <a:buFont typeface="Arial"/>
              <a:buChar char="•"/>
            </a:pPr>
            <a:r>
              <a:rPr lang="en-US" sz="1800" spc="-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Noise Reduction: By filtering out statistically improbable property prices, we prevented the model from learning "noise," leading to more generalized and reliable predictions.</a:t>
            </a:r>
          </a:p>
          <a:p>
            <a:pPr algn="just">
              <a:lnSpc>
                <a:spcPts val="2394"/>
              </a:lnSpc>
            </a:pPr>
            <a:endParaRPr lang="en-US" sz="1800" spc="-5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93"/>
              </a:lnSpc>
            </a:pPr>
            <a:r>
              <a:rPr lang="en-US" sz="2100" b="1" spc="-58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Strategic Result:</a:t>
            </a:r>
          </a:p>
          <a:p>
            <a:pPr algn="just">
              <a:lnSpc>
                <a:spcPts val="2793"/>
              </a:lnSpc>
            </a:pPr>
            <a:endParaRPr lang="en-US" sz="2100" b="1" spc="-58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261"/>
              </a:lnSpc>
            </a:pPr>
            <a:r>
              <a:rPr lang="en-US" sz="1700" spc="-4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neutralizing extreme outliers and employing intelligent imputation, we stabilized the model’s learning process, ensuring that final pricing predictions are based on realistic market trends rather than data anomalies.</a:t>
            </a:r>
          </a:p>
          <a:p>
            <a:pPr algn="just">
              <a:lnSpc>
                <a:spcPts val="2793"/>
              </a:lnSpc>
            </a:pPr>
            <a:endParaRPr lang="en-US" sz="1700" spc="-47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160583" y="2470217"/>
            <a:ext cx="6145566" cy="5832701"/>
          </a:xfrm>
          <a:custGeom>
            <a:avLst/>
            <a:gdLst/>
            <a:ahLst/>
            <a:cxnLst/>
            <a:rect l="l" t="t" r="r" b="b"/>
            <a:pathLst>
              <a:path w="6145566" h="5832701">
                <a:moveTo>
                  <a:pt x="0" y="0"/>
                </a:moveTo>
                <a:lnTo>
                  <a:pt x="6145567" y="0"/>
                </a:lnTo>
                <a:lnTo>
                  <a:pt x="6145567" y="5832701"/>
                </a:lnTo>
                <a:lnTo>
                  <a:pt x="0" y="583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78437"/>
            <a:ext cx="7647473" cy="159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9"/>
              </a:lnSpc>
            </a:pPr>
            <a:r>
              <a:rPr lang="en-US" sz="3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FEATURE ENGINEERING: TRANSFORMING RAW DATA INTO STRATEGIC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796074"/>
            <a:ext cx="10036483" cy="553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Engineered Features:</a:t>
            </a:r>
          </a:p>
          <a:p>
            <a:pPr algn="just">
              <a:lnSpc>
                <a:spcPts val="2793"/>
              </a:lnSpc>
            </a:pPr>
            <a:endParaRPr lang="en-US" sz="2100" b="1" spc="-58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10211" lvl="1" indent="-205106" algn="just">
              <a:lnSpc>
                <a:spcPts val="2527"/>
              </a:lnSpc>
              <a:buFont typeface="Arial"/>
              <a:buChar char="•"/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TotalSF (Interaction Term): We aggregated Basement, 1st Floor, and 2nd Floor square footage into a comprehensive 'Total Living Space' feature. This mirrors real-world buyer behavior, as total usable area is the primary driver of property value.</a:t>
            </a:r>
          </a:p>
          <a:p>
            <a:pPr marL="410211" lvl="1" indent="-205106" algn="just">
              <a:lnSpc>
                <a:spcPts val="2527"/>
              </a:lnSpc>
              <a:buFont typeface="Arial"/>
              <a:buChar char="•"/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HouseAge (Derived Metric): Instead of using raw years, we calculated the property's age at the time of sale ($YrSold - YearBuilt$). This allowed the model to capture the non-linear impact of depreciation and maintenance cycles on market price.</a:t>
            </a:r>
          </a:p>
          <a:p>
            <a:pPr marL="410211" lvl="1" indent="-205106" algn="just">
              <a:lnSpc>
                <a:spcPts val="2527"/>
              </a:lnSpc>
              <a:buFont typeface="Arial"/>
              <a:buChar char="•"/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Categorical Encoding: Qualitative attributes (like Neighborhood or Central Air) were transformed using One-Hot Encoding. This converted text descriptions into a high-dimensional mathematical format optimized for the XGBoost algorithm.</a:t>
            </a:r>
          </a:p>
          <a:p>
            <a:pPr algn="just">
              <a:lnSpc>
                <a:spcPts val="2527"/>
              </a:lnSpc>
            </a:pPr>
            <a:endParaRPr lang="en-US" sz="1900" spc="-5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Strategic Impact:</a:t>
            </a:r>
          </a:p>
          <a:p>
            <a:pPr algn="just">
              <a:lnSpc>
                <a:spcPts val="2793"/>
              </a:lnSpc>
            </a:pPr>
            <a:endParaRPr lang="en-US" sz="2100" b="1" spc="-58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527"/>
              </a:lnSpc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engineering human-centric features like 'TotalSF' and 'HouseAge,' we moved beyond simple variables to capture the true economic drivers of the Ames real estate market.</a:t>
            </a:r>
          </a:p>
          <a:p>
            <a:pPr algn="just">
              <a:lnSpc>
                <a:spcPts val="2793"/>
              </a:lnSpc>
            </a:pPr>
            <a:endParaRPr lang="en-US" sz="1900" spc="-5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05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815242" y="801230"/>
            <a:ext cx="7632269" cy="252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52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MODEL TRINITY PERFORMANCE: BENCHMARKING ACCURACY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4990" y="3730371"/>
            <a:ext cx="12113669" cy="494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Comparative Analysis:</a:t>
            </a:r>
          </a:p>
          <a:p>
            <a:pPr algn="l">
              <a:lnSpc>
                <a:spcPts val="2793"/>
              </a:lnSpc>
            </a:pPr>
            <a:endParaRPr lang="en-US" sz="2100" b="1" spc="-58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10211" lvl="1" indent="-205106" algn="l">
              <a:lnSpc>
                <a:spcPts val="2527"/>
              </a:lnSpc>
              <a:buFont typeface="Arial"/>
              <a:buChar char="•"/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Linear Regression (Baseline): Established a foundational performance with an $R^2$ of ~0.84. While useful, it struggled to capture the complex, non-linear relationships inherent in high-end property features.</a:t>
            </a:r>
          </a:p>
          <a:p>
            <a:pPr marL="410211" lvl="1" indent="-205106" algn="l">
              <a:lnSpc>
                <a:spcPts val="2527"/>
              </a:lnSpc>
              <a:buFont typeface="Arial"/>
              <a:buChar char="•"/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Random Forest (Robust): Improved accuracy to ~0.89 by utilizing ensemble learning. It effectively handled feature interactions but showed a slight tendency toward variance.</a:t>
            </a:r>
          </a:p>
          <a:p>
            <a:pPr marL="410211" lvl="1" indent="-205106" algn="l">
              <a:lnSpc>
                <a:spcPts val="2527"/>
              </a:lnSpc>
              <a:buFont typeface="Arial"/>
              <a:buChar char="•"/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XGBoost (Optimized Winner): Achieved the highest performance with an $R^2$ of ~0.91 and the lowest error rate. Its gradient boosting framework perfectly balanced complexity and generalization.</a:t>
            </a:r>
          </a:p>
          <a:p>
            <a:pPr algn="l">
              <a:lnSpc>
                <a:spcPts val="2793"/>
              </a:lnSpc>
            </a:pPr>
            <a:endParaRPr lang="en-US" sz="1900" spc="-5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Metrics:</a:t>
            </a:r>
          </a:p>
          <a:p>
            <a:pPr algn="l">
              <a:lnSpc>
                <a:spcPts val="2793"/>
              </a:lnSpc>
            </a:pPr>
            <a:endParaRPr lang="en-US" sz="2100" b="1" spc="-58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10211" lvl="1" indent="-205106" algn="l">
              <a:lnSpc>
                <a:spcPts val="2527"/>
              </a:lnSpc>
              <a:buFont typeface="Arial"/>
              <a:buChar char="•"/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Target: RMSE &lt; 10% of Mean Sale Price.</a:t>
            </a:r>
          </a:p>
          <a:p>
            <a:pPr marL="410211" lvl="1" indent="-205106" algn="l">
              <a:lnSpc>
                <a:spcPts val="2527"/>
              </a:lnSpc>
              <a:buFont typeface="Arial"/>
              <a:buChar char="•"/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Result: Final model successfully achieved an RMSE significantly below the $18,000 threshold.</a:t>
            </a:r>
          </a:p>
          <a:p>
            <a:pPr algn="ctr">
              <a:lnSpc>
                <a:spcPts val="2793"/>
              </a:lnSpc>
            </a:pPr>
            <a:endParaRPr lang="en-US" sz="1900" spc="-5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4857287" y="2040404"/>
            <a:ext cx="5919398" cy="5704147"/>
          </a:xfrm>
          <a:custGeom>
            <a:avLst/>
            <a:gdLst/>
            <a:ahLst/>
            <a:cxnLst/>
            <a:rect l="l" t="t" r="r" b="b"/>
            <a:pathLst>
              <a:path w="5919398" h="5704147">
                <a:moveTo>
                  <a:pt x="0" y="0"/>
                </a:moveTo>
                <a:lnTo>
                  <a:pt x="5919398" y="0"/>
                </a:lnTo>
                <a:lnTo>
                  <a:pt x="5919398" y="5704147"/>
                </a:lnTo>
                <a:lnTo>
                  <a:pt x="0" y="5704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683" y="605953"/>
            <a:ext cx="10405523" cy="179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9"/>
              </a:lnSpc>
            </a:pPr>
            <a:r>
              <a:rPr lang="en-US" sz="499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XGBOOST: PRECISION ENGINEERING FOR MARKET PREDICTION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83" y="2596658"/>
            <a:ext cx="4550999" cy="43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24"/>
              </a:lnSpc>
            </a:pPr>
            <a:r>
              <a:rPr lang="en-US" sz="2499" b="1" spc="-69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XGBoost Outperformed: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683" y="3814461"/>
            <a:ext cx="3719724" cy="1780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800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($R^2 \approx 0.91$): Our optimized XGBoost regressor captured 91% of price variability, outperforming traditional ensemble methods through advanced gradient boosting.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451743"/>
            <a:ext cx="4550999" cy="408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1"/>
              </a:lnSpc>
            </a:pPr>
            <a:r>
              <a:rPr lang="en-US" sz="2399" b="1" spc="-67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Technical Victory: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4387" y="7069344"/>
            <a:ext cx="7371387" cy="95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XGBoost's ability to handle high-dimensional encoded data while maintaining low error rates makes it the ideal 'Production-Ready' engine for real estate stakeholders.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78150" y="3268107"/>
            <a:ext cx="5085389" cy="35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100" b="1" spc="-58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Overfitting Control (Regularization)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78150" y="3814461"/>
            <a:ext cx="4209084" cy="118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800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implemented L2 Regularization ($\lambda$) and controlled tree depth to ensure the model generalizes well to new, unseen property listings.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683" y="3241183"/>
            <a:ext cx="4550999" cy="38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25"/>
              </a:lnSpc>
            </a:pPr>
            <a:r>
              <a:rPr lang="en-US" sz="2199" b="1" spc="-6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Superior Accuracy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63539" y="3814461"/>
            <a:ext cx="3719724" cy="1484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800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Using GridSearchCV, we fine-tuned learning rates and estimator counts to achieve the perfect balance between complexity and speed.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63539" y="3268107"/>
            <a:ext cx="5085389" cy="35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100" b="1" spc="-58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Hyperparameter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07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81200" y="2418007"/>
            <a:ext cx="4522428" cy="5181900"/>
            <a:chOff x="0" y="0"/>
            <a:chExt cx="1191092" cy="13647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1092" cy="1364780"/>
            </a:xfrm>
            <a:custGeom>
              <a:avLst/>
              <a:gdLst/>
              <a:ahLst/>
              <a:cxnLst/>
              <a:rect l="l" t="t" r="r" b="b"/>
              <a:pathLst>
                <a:path w="1191092" h="1364780">
                  <a:moveTo>
                    <a:pt x="0" y="0"/>
                  </a:moveTo>
                  <a:lnTo>
                    <a:pt x="1191092" y="0"/>
                  </a:lnTo>
                  <a:lnTo>
                    <a:pt x="1191092" y="1364780"/>
                  </a:lnTo>
                  <a:lnTo>
                    <a:pt x="0" y="1364780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191092" cy="1421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2197313"/>
            <a:ext cx="6370829" cy="5623288"/>
            <a:chOff x="0" y="0"/>
            <a:chExt cx="1140478" cy="8711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0478" cy="871194"/>
            </a:xfrm>
            <a:custGeom>
              <a:avLst/>
              <a:gdLst/>
              <a:ahLst/>
              <a:cxnLst/>
              <a:rect l="l" t="t" r="r" b="b"/>
              <a:pathLst>
                <a:path w="1140478" h="871194">
                  <a:moveTo>
                    <a:pt x="0" y="0"/>
                  </a:moveTo>
                  <a:lnTo>
                    <a:pt x="1140478" y="0"/>
                  </a:lnTo>
                  <a:lnTo>
                    <a:pt x="1140478" y="871194"/>
                  </a:lnTo>
                  <a:lnTo>
                    <a:pt x="0" y="871194"/>
                  </a:lnTo>
                  <a:close/>
                </a:path>
              </a:pathLst>
            </a:custGeom>
            <a:blipFill>
              <a:blip r:embed="rId2"/>
              <a:stretch>
                <a:fillRect l="-17900" r="-17900"/>
              </a:stretch>
            </a:blipFill>
          </p:spPr>
        </p:sp>
      </p:grpSp>
      <p:sp>
        <p:nvSpPr>
          <p:cNvPr id="11" name="AutoShape 11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7081369" y="1218162"/>
            <a:ext cx="8257172" cy="347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4"/>
              </a:lnSpc>
            </a:pPr>
            <a:r>
              <a:rPr lang="en-US" sz="4918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DECODING THE MODEL: SHAP VALUE INTERPRETATION</a:t>
            </a:r>
          </a:p>
          <a:p>
            <a:pPr algn="l">
              <a:lnSpc>
                <a:spcPts val="4574"/>
              </a:lnSpc>
            </a:pPr>
            <a:endParaRPr lang="en-US" sz="4918">
              <a:solidFill>
                <a:srgbClr val="00FFFF"/>
              </a:solidFill>
              <a:latin typeface="Zen Dots"/>
              <a:ea typeface="Zen Dots"/>
              <a:cs typeface="Zen Dots"/>
              <a:sym typeface="Zen Dots"/>
            </a:endParaRPr>
          </a:p>
          <a:p>
            <a:pPr algn="l">
              <a:lnSpc>
                <a:spcPts val="4574"/>
              </a:lnSpc>
            </a:pPr>
            <a:endParaRPr lang="en-US" sz="4918">
              <a:solidFill>
                <a:srgbClr val="00FFFF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13" name="Freeform 13"/>
          <p:cNvSpPr/>
          <p:nvPr/>
        </p:nvSpPr>
        <p:spPr>
          <a:xfrm rot="-3185288">
            <a:off x="15595742" y="262509"/>
            <a:ext cx="4630504" cy="4630504"/>
          </a:xfrm>
          <a:custGeom>
            <a:avLst/>
            <a:gdLst/>
            <a:ahLst/>
            <a:cxnLst/>
            <a:rect l="l" t="t" r="r" b="b"/>
            <a:pathLst>
              <a:path w="4630504" h="4630504">
                <a:moveTo>
                  <a:pt x="0" y="0"/>
                </a:moveTo>
                <a:lnTo>
                  <a:pt x="4630504" y="0"/>
                </a:lnTo>
                <a:lnTo>
                  <a:pt x="4630504" y="4630503"/>
                </a:lnTo>
                <a:lnTo>
                  <a:pt x="0" y="46305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081369" y="3754183"/>
            <a:ext cx="9391698" cy="553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3"/>
              </a:lnSpc>
            </a:pPr>
            <a:r>
              <a:rPr lang="en-US" sz="2100" b="1" spc="-58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Transparency over Black-Box AI:</a:t>
            </a:r>
          </a:p>
          <a:p>
            <a:pPr algn="just">
              <a:lnSpc>
                <a:spcPts val="2793"/>
              </a:lnSpc>
            </a:pPr>
            <a:endParaRPr lang="en-US" sz="2100" b="1" spc="-58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10211" lvl="1" indent="-205106" algn="just">
              <a:lnSpc>
                <a:spcPts val="2527"/>
              </a:lnSpc>
              <a:buFont typeface="Arial"/>
              <a:buChar char="•"/>
            </a:pP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Impact Assessment: We utilized SHAP (</a:t>
            </a:r>
            <a:r>
              <a:rPr lang="en-US" sz="1900" spc="-5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SHapley</a:t>
            </a: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Additive </a:t>
            </a:r>
            <a:r>
              <a:rPr lang="en-US" sz="1900" spc="-5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exPlanations</a:t>
            </a: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to move beyond simple accuracy and understand the "Why" behind every price prediction.</a:t>
            </a:r>
          </a:p>
          <a:p>
            <a:pPr marL="410211" lvl="1" indent="-205106" algn="just">
              <a:lnSpc>
                <a:spcPts val="2527"/>
              </a:lnSpc>
              <a:buFont typeface="Arial"/>
              <a:buChar char="•"/>
            </a:pP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Value Drivers: The summary plot reveals that </a:t>
            </a:r>
            <a:r>
              <a:rPr lang="en-US" sz="1900" spc="-5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TotalSF</a:t>
            </a: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Overall Quality have the highest positive impact on </a:t>
            </a:r>
            <a:r>
              <a:rPr lang="en-US" sz="1900" spc="-5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SalePrice</a:t>
            </a: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pushing valuations upward significantly.</a:t>
            </a:r>
          </a:p>
          <a:p>
            <a:pPr marL="410211" lvl="1" indent="-205106" algn="just">
              <a:lnSpc>
                <a:spcPts val="2527"/>
              </a:lnSpc>
              <a:buFont typeface="Arial"/>
              <a:buChar char="•"/>
            </a:pP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Negative Correlation: SHAP values clearly quantify the depreciation impact of </a:t>
            </a:r>
            <a:r>
              <a:rPr lang="en-US" sz="1900" spc="-5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HouseAge</a:t>
            </a: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showing exactly how much value a property loses as it gets older.</a:t>
            </a:r>
          </a:p>
          <a:p>
            <a:pPr algn="just">
              <a:lnSpc>
                <a:spcPts val="2527"/>
              </a:lnSpc>
            </a:pPr>
            <a:endParaRPr lang="en-US" sz="1900" spc="-53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93"/>
              </a:lnSpc>
            </a:pPr>
            <a:r>
              <a:rPr lang="en-US" sz="2100" b="1" spc="-58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Strategic Insight:</a:t>
            </a:r>
          </a:p>
          <a:p>
            <a:pPr algn="just">
              <a:lnSpc>
                <a:spcPts val="2793"/>
              </a:lnSpc>
            </a:pPr>
            <a:endParaRPr lang="en-US" sz="2100" b="1" spc="-58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527"/>
              </a:lnSpc>
            </a:pP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using SHAP, we provide stakeholders with a transparent roadmap of which property features are actually driving market value, ensuring data-driven investment strategies.</a:t>
            </a:r>
          </a:p>
          <a:p>
            <a:pPr algn="just">
              <a:lnSpc>
                <a:spcPts val="2793"/>
              </a:lnSpc>
            </a:pPr>
            <a:endParaRPr lang="en-US" sz="1900" spc="-53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0595415" y="3045555"/>
            <a:ext cx="2985565" cy="4924127"/>
            <a:chOff x="0" y="0"/>
            <a:chExt cx="786322" cy="12968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6322" cy="1296889"/>
            </a:xfrm>
            <a:custGeom>
              <a:avLst/>
              <a:gdLst/>
              <a:ahLst/>
              <a:cxnLst/>
              <a:rect l="l" t="t" r="r" b="b"/>
              <a:pathLst>
                <a:path w="786322" h="1296889">
                  <a:moveTo>
                    <a:pt x="0" y="0"/>
                  </a:moveTo>
                  <a:lnTo>
                    <a:pt x="786322" y="0"/>
                  </a:lnTo>
                  <a:lnTo>
                    <a:pt x="786322" y="1296889"/>
                  </a:lnTo>
                  <a:lnTo>
                    <a:pt x="0" y="1296889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786322" cy="1354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921192" y="2566762"/>
            <a:ext cx="4366808" cy="5343557"/>
            <a:chOff x="0" y="0"/>
            <a:chExt cx="676533" cy="8278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6533" cy="827857"/>
            </a:xfrm>
            <a:custGeom>
              <a:avLst/>
              <a:gdLst/>
              <a:ahLst/>
              <a:cxnLst/>
              <a:rect l="l" t="t" r="r" b="b"/>
              <a:pathLst>
                <a:path w="676533" h="827857">
                  <a:moveTo>
                    <a:pt x="0" y="0"/>
                  </a:moveTo>
                  <a:lnTo>
                    <a:pt x="676533" y="0"/>
                  </a:lnTo>
                  <a:lnTo>
                    <a:pt x="676533" y="827857"/>
                  </a:lnTo>
                  <a:lnTo>
                    <a:pt x="0" y="827857"/>
                  </a:lnTo>
                  <a:close/>
                </a:path>
              </a:pathLst>
            </a:custGeom>
            <a:blipFill>
              <a:blip r:embed="rId2"/>
              <a:stretch>
                <a:fillRect l="-58771" r="-5877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572877" y="2513304"/>
            <a:ext cx="4366808" cy="5441889"/>
            <a:chOff x="0" y="0"/>
            <a:chExt cx="676533" cy="8430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6533" cy="843091"/>
            </a:xfrm>
            <a:custGeom>
              <a:avLst/>
              <a:gdLst/>
              <a:ahLst/>
              <a:cxnLst/>
              <a:rect l="l" t="t" r="r" b="b"/>
              <a:pathLst>
                <a:path w="676533" h="843091">
                  <a:moveTo>
                    <a:pt x="0" y="0"/>
                  </a:moveTo>
                  <a:lnTo>
                    <a:pt x="676533" y="0"/>
                  </a:lnTo>
                  <a:lnTo>
                    <a:pt x="676533" y="843091"/>
                  </a:lnTo>
                  <a:lnTo>
                    <a:pt x="0" y="843091"/>
                  </a:lnTo>
                  <a:close/>
                </a:path>
              </a:pathLst>
            </a:custGeom>
            <a:blipFill>
              <a:blip r:embed="rId3"/>
              <a:stretch>
                <a:fillRect l="-42999" r="-42999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683" y="791705"/>
            <a:ext cx="8459971" cy="237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49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MARKET INTELLIGENCE: KEY PRICING DRIVERS &amp; TRENDS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683" y="3265297"/>
            <a:ext cx="8982548" cy="595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Business Insights:</a:t>
            </a:r>
          </a:p>
          <a:p>
            <a:pPr algn="just">
              <a:lnSpc>
                <a:spcPts val="2793"/>
              </a:lnSpc>
            </a:pPr>
            <a:endParaRPr lang="en-US" sz="2100" b="1" spc="-58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388622" lvl="1" indent="-194311" algn="l">
              <a:lnSpc>
                <a:spcPts val="2394"/>
              </a:lnSpc>
              <a:buFont typeface="Arial"/>
              <a:buChar char="•"/>
            </a:pPr>
            <a:r>
              <a:rPr lang="en-US" sz="1800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"SF Premium": Square Footage remains the most aggressive price driver. Our model quantifies that expanding the living area (TotalSF) provides the highest and most consistent return on investment (ROI) for property developers.</a:t>
            </a:r>
          </a:p>
          <a:p>
            <a:pPr marL="388622" lvl="1" indent="-194311" algn="l">
              <a:lnSpc>
                <a:spcPts val="2394"/>
              </a:lnSpc>
              <a:buFont typeface="Arial"/>
              <a:buChar char="•"/>
            </a:pPr>
            <a:r>
              <a:rPr lang="en-US" sz="1800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"Age Cliff" Effect: We identified a non-linear depreciation pattern. Property values experience a significant "cliff" or drop-off after 20 years, typically coinciding with major system replacement cycles (HVAC, Roofing).</a:t>
            </a:r>
          </a:p>
          <a:p>
            <a:pPr marL="388622" lvl="1" indent="-194311" algn="l">
              <a:lnSpc>
                <a:spcPts val="2394"/>
              </a:lnSpc>
              <a:buFont typeface="Arial"/>
              <a:buChar char="•"/>
            </a:pPr>
            <a:r>
              <a:rPr lang="en-US" sz="1800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Quality vs. Quantity: High-end finishes and "Overall Quality" can often bridge the price gap for smaller properties, suggesting that material quality is a powerful secondary lever for premium pricing.</a:t>
            </a:r>
          </a:p>
          <a:p>
            <a:pPr algn="l">
              <a:lnSpc>
                <a:spcPts val="2394"/>
              </a:lnSpc>
            </a:pPr>
            <a:endParaRPr lang="en-US" sz="1800" spc="-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Strategic Takeaway:</a:t>
            </a:r>
          </a:p>
          <a:p>
            <a:pPr algn="l">
              <a:lnSpc>
                <a:spcPts val="2793"/>
              </a:lnSpc>
            </a:pPr>
            <a:endParaRPr lang="en-US" sz="2100" b="1" spc="-58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527"/>
              </a:lnSpc>
            </a:pPr>
            <a:r>
              <a:rPr lang="en-US" sz="1900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Understanding the intersection of Age and Square Footage allows stakeholders to time their market entries and exits with mathematical precision.</a:t>
            </a:r>
          </a:p>
          <a:p>
            <a:pPr algn="l">
              <a:lnSpc>
                <a:spcPts val="2793"/>
              </a:lnSpc>
            </a:pPr>
            <a:endParaRPr lang="en-US" sz="1900" spc="-5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1117" y="1348712"/>
            <a:ext cx="8323626" cy="2217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8"/>
              </a:lnSpc>
            </a:pPr>
            <a:r>
              <a:rPr lang="en-US" sz="46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STRATEGIC ROADMAP: DATA-DRIVEN RECOMMENDATIONS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61117" y="4126834"/>
            <a:ext cx="10090080" cy="4908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100" b="1" spc="-58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Actionable Advice for Investors:</a:t>
            </a:r>
          </a:p>
          <a:p>
            <a:pPr algn="l">
              <a:lnSpc>
                <a:spcPts val="2793"/>
              </a:lnSpc>
            </a:pPr>
            <a:endParaRPr lang="en-US" sz="2100" b="1" spc="-58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10211" lvl="1" indent="-205106" algn="l">
              <a:lnSpc>
                <a:spcPts val="2527"/>
              </a:lnSpc>
              <a:buFont typeface="Arial"/>
              <a:buChar char="•"/>
            </a:pP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Prioritize Expansion: For properties under the median square footage, focus on additions or basement finishing, as </a:t>
            </a:r>
            <a:r>
              <a:rPr lang="en-US" sz="1900" spc="-5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TotalSF</a:t>
            </a: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has a linear-positive correlation with high-end valuations.</a:t>
            </a:r>
          </a:p>
          <a:p>
            <a:pPr marL="410211" lvl="1" indent="-205106" algn="l">
              <a:lnSpc>
                <a:spcPts val="2527"/>
              </a:lnSpc>
              <a:buFont typeface="Arial"/>
              <a:buChar char="•"/>
            </a:pP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Renovate Before the Cliff: Properties approaching the 15-20 year mark should undergo systematic upgrades to mitigate the anticipated "Age Cliff" value drop.</a:t>
            </a:r>
          </a:p>
          <a:p>
            <a:pPr marL="410211" lvl="1" indent="-205106" algn="l">
              <a:lnSpc>
                <a:spcPts val="2527"/>
              </a:lnSpc>
              <a:buFont typeface="Arial"/>
              <a:buChar char="•"/>
            </a:pP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Target High-Quality Pockets: Invest in neighborhoods with high "Quality-to-Price" ratios, where the model shows consistent premiums regardless of structural age.</a:t>
            </a:r>
          </a:p>
          <a:p>
            <a:pPr algn="l">
              <a:lnSpc>
                <a:spcPts val="2527"/>
              </a:lnSpc>
            </a:pPr>
            <a:endParaRPr lang="en-US" sz="1900" spc="-53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3"/>
              </a:lnSpc>
            </a:pPr>
            <a:r>
              <a:rPr lang="en-US" sz="2100" b="1" spc="-58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Bottom Line:</a:t>
            </a:r>
          </a:p>
          <a:p>
            <a:pPr algn="l">
              <a:lnSpc>
                <a:spcPts val="2793"/>
              </a:lnSpc>
            </a:pPr>
            <a:endParaRPr lang="en-US" sz="2100" b="1" spc="-58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527"/>
              </a:lnSpc>
            </a:pPr>
            <a:r>
              <a:rPr lang="en-US" sz="1900" spc="-5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leveraging this predictive engine, real estate stakeholders can transform speculative risks into calculated, high-margin opportunities.</a:t>
            </a:r>
          </a:p>
          <a:p>
            <a:pPr algn="just">
              <a:lnSpc>
                <a:spcPts val="2793"/>
              </a:lnSpc>
            </a:pPr>
            <a:endParaRPr lang="en-US" sz="1900" spc="-53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-16101" y="-266700"/>
            <a:ext cx="4335517" cy="4114800"/>
          </a:xfrm>
          <a:custGeom>
            <a:avLst/>
            <a:gdLst/>
            <a:ahLst/>
            <a:cxnLst/>
            <a:rect l="l" t="t" r="r" b="b"/>
            <a:pathLst>
              <a:path w="4335517" h="4114800">
                <a:moveTo>
                  <a:pt x="0" y="0"/>
                </a:moveTo>
                <a:lnTo>
                  <a:pt x="4335518" y="0"/>
                </a:lnTo>
                <a:lnTo>
                  <a:pt x="43355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6899" y="1570547"/>
            <a:ext cx="14079189" cy="2018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5"/>
              </a:lnSpc>
            </a:pPr>
            <a:r>
              <a:rPr lang="en-US" sz="8242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 THANK YOU! ANY QUESTIONS?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39551" y="3898245"/>
            <a:ext cx="11678252" cy="4232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 of Project Success:</a:t>
            </a:r>
          </a:p>
          <a:p>
            <a:pPr algn="ctr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Predictive Accuracy: Achieved a robust $R^2$ of 0.91, ensuring high-confidence valuations.</a:t>
            </a:r>
          </a:p>
          <a:p>
            <a:pPr algn="ctr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Error Minimization: Maintained an RMSE below 10% ($&lt;$ $18,000$), exceeding the internship technical requirements.</a:t>
            </a:r>
          </a:p>
          <a:p>
            <a:pPr algn="ctr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Discovery: Successfully quantified the impact of TotalSF and the "Age Cliff" using SHAP values.</a:t>
            </a:r>
          </a:p>
          <a:p>
            <a:pPr algn="ctr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Let's Discuss:</a:t>
            </a:r>
          </a:p>
          <a:p>
            <a:pPr algn="ctr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implementation of the XGBoost Pipeline.</a:t>
            </a:r>
          </a:p>
          <a:p>
            <a:pPr algn="ctr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Statistical validity of the 3-Sigma Outlier Filtering.</a:t>
            </a:r>
          </a:p>
          <a:p>
            <a:pPr algn="ctr">
              <a:lnSpc>
                <a:spcPts val="2793"/>
              </a:lnSpc>
            </a:pPr>
            <a:r>
              <a:rPr lang="en-US" sz="2100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Strategic application of the Streamlit Dashboard for stakeholders.</a:t>
            </a:r>
          </a:p>
          <a:p>
            <a:pPr algn="ctr">
              <a:lnSpc>
                <a:spcPts val="2793"/>
              </a:lnSpc>
            </a:pPr>
            <a:endParaRPr lang="en-US" sz="2100" b="1" spc="-58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0873" y="9046346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3" tooltip="https://github.com/carnoba"/>
              </a:rPr>
              <a:t>My Github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44133" y="9046346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carnoba9@gmaill.com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28202" y="9061735"/>
            <a:ext cx="1274721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1211</Words>
  <Application>Microsoft Office PowerPoint</Application>
  <PresentationFormat>Custom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Poppins Bold</vt:lpstr>
      <vt:lpstr>Zen Dots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cp:lastModifiedBy>DELL</cp:lastModifiedBy>
  <cp:revision>2</cp:revision>
  <dcterms:created xsi:type="dcterms:W3CDTF">2006-08-16T00:00:00Z</dcterms:created>
  <dcterms:modified xsi:type="dcterms:W3CDTF">2026-02-11T05:04:56Z</dcterms:modified>
  <dc:identifier>DAHA_HV8w6A</dc:identifier>
</cp:coreProperties>
</file>